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babd1e59b242ba" /><Relationship Type="http://schemas.openxmlformats.org/officeDocument/2006/relationships/extended-properties" Target="/docProps/app.xml" Id="Rd462793ea80440dd" /><Relationship Type="http://schemas.openxmlformats.org/officeDocument/2006/relationships/officeDocument" Target="/ppt/presentation.xml" Id="R2318bcaef81242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fa35cca65b48d0"/>
  </p:sldMasterIdLst>
  <p:notesMasterIdLst>
    <p:notesMasterId xmlns:r="http://schemas.openxmlformats.org/officeDocument/2006/relationships" r:id="Ra018476ff8d74801"/>
  </p:notesMasterIdLst>
  <p:sldIdLst>
    <p:sldId xmlns:r="http://schemas.openxmlformats.org/officeDocument/2006/relationships" id="256" r:id="R89c41dd6c0514b6f"/>
    <p:sldId xmlns:r="http://schemas.openxmlformats.org/officeDocument/2006/relationships" id="257" r:id="Rbcecfec92f4d44ac"/>
    <p:sldId xmlns:r="http://schemas.openxmlformats.org/officeDocument/2006/relationships" id="258" r:id="Rdbfd3e9ddb3c4d77"/>
    <p:sldId xmlns:r="http://schemas.openxmlformats.org/officeDocument/2006/relationships" id="259" r:id="R829e12b84b0541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02f736ee294808" /><Relationship Type="http://schemas.openxmlformats.org/officeDocument/2006/relationships/slideMaster" Target="/ppt/slideMasters/slideMaster1.xml" Id="R76fa35cca65b48d0" /><Relationship Type="http://schemas.openxmlformats.org/officeDocument/2006/relationships/notesMaster" Target="/ppt/notesMasters/notesMaster1.xml" Id="Ra018476ff8d74801" /><Relationship Type="http://schemas.openxmlformats.org/officeDocument/2006/relationships/presProps" Target="/ppt/presProps.xml" Id="R6177c0d2b705415d" /><Relationship Type="http://schemas.openxmlformats.org/officeDocument/2006/relationships/tableStyles" Target="/ppt/tableStyles.xml" Id="R42193f862bea45fa" /><Relationship Type="http://schemas.openxmlformats.org/officeDocument/2006/relationships/slide" Target="/ppt/slides/slide1.xml" Id="R89c41dd6c0514b6f" /><Relationship Type="http://schemas.openxmlformats.org/officeDocument/2006/relationships/slide" Target="/ppt/slides/slide2.xml" Id="Rbcecfec92f4d44ac" /><Relationship Type="http://schemas.openxmlformats.org/officeDocument/2006/relationships/slide" Target="/ppt/slides/slide3.xml" Id="Rdbfd3e9ddb3c4d77" /><Relationship Type="http://schemas.openxmlformats.org/officeDocument/2006/relationships/slide" Target="/ppt/slides/slide4.xml" Id="R829e12b84b0541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ad0173e56c41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720ac96d83453e" /><Relationship Type="http://schemas.openxmlformats.org/officeDocument/2006/relationships/notesMaster" Target="/ppt/notesMasters/notesMaster1.xml" Id="R986531865f2e46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730e526ddb478d" /><Relationship Type="http://schemas.openxmlformats.org/officeDocument/2006/relationships/notesMaster" Target="/ppt/notesMasters/notesMaster1.xml" Id="R492533b9565c4e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5cc4343f694d6f" /><Relationship Type="http://schemas.openxmlformats.org/officeDocument/2006/relationships/notesMaster" Target="/ppt/notesMasters/notesMaster1.xml" Id="Rd50c3834731549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933f895cdc4c17" /><Relationship Type="http://schemas.openxmlformats.org/officeDocument/2006/relationships/notesMaster" Target="/ppt/notesMasters/notesMaster1.xml" Id="R80ef684b12044f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本页内容为合成基准资料。</a:t>
            </a:r>
          </a:p>
          <a:p xmlns:a="http://schemas.openxmlformats.org/drawingml/2006/main">
            <a:r>
              <a:t>Source: synthetic interview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synthetic sales operations interviews. Exact thresholds are not defined in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synthetic July 2026 channel-order summary. Values are percentages and sum to 100.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synthetic scope workshop. Deterministic values are maintained in dealer-policy-matrix.xlsx.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b6c6b3afb41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374744d00d41f2" /><Relationship Type="http://schemas.openxmlformats.org/officeDocument/2006/relationships/slideLayout" Target="/ppt/slideLayouts/slideLayout1.xml" Id="R70e3f3b4ef1a41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e3f3b4ef1a41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a2be95b854595" /><Relationship Type="http://schemas.openxmlformats.org/officeDocument/2006/relationships/notesSlide" Target="/ppt/notesSlides/notesSlide1.xml" Id="Rcce6fe52f04847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58a0c3f9b41d8" /><Relationship Type="http://schemas.openxmlformats.org/officeDocument/2006/relationships/notesSlide" Target="/ppt/notesSlides/notesSlide2.xml" Id="Rc46de0b0b3814e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cfa050d69425d" /><Relationship Type="http://schemas.openxmlformats.org/officeDocument/2006/relationships/chart" Target="/ppt/slides/charts/chart1.xml" Id="R2f5d5073ffc14a0e" /><Relationship Type="http://schemas.openxmlformats.org/officeDocument/2006/relationships/notesSlide" Target="/ppt/notesSlides/notesSlide3.xml" Id="R30886c9bff6a4e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dff4f6dd84cff" /><Relationship Type="http://schemas.openxmlformats.org/officeDocument/2006/relationships/notesSlide" Target="/ppt/notesSlides/notesSlide4.xml" Id="R6378c6353668403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订单金额占比</c:v>
          </c:tx>
          <c:spPr>
            <a:solidFill xmlns:a="http://schemas.openxmlformats.org/drawingml/2006/main">
              <a:srgbClr val="246BCE"/>
            </a:solidFill>
          </c:spPr>
          <c:cat>
            <c:strRef>
              <c:f>'Chart Data'!$A$2:$A$5</c:f>
              <c:strCache>
                <c:ptCount val="4"/>
                <c:pt idx="0">
                  <c:v>直营网销</c:v>
                </c:pt>
                <c:pt idx="1">
                  <c:v>A级经销商</c:v>
                </c:pt>
                <c:pt idx="2">
                  <c:v>B级经销商</c:v>
                </c:pt>
                <c:pt idx="3">
                  <c:v>C级经销商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22</c:v>
                </c:pt>
                <c:pt idx="1">
                  <c:v>38</c:v>
                </c:pt>
                <c:pt idx="2">
                  <c:v>27</c:v>
                </c:pt>
                <c:pt idx="3">
                  <c:v>13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0EA4C-3763-42E9-832A-7F8D9D04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2A45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42A45"/>
                </a:solidFill>
                <a:latin typeface="Arial"/>
                <a:ea typeface="Arial"/>
                <a:cs typeface="Arial"/>
              </a:rPr>
              <a:t>经销商管理现状调研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18E16-AB73-4E47-ACD6-F3EBA2F6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6BCE"/>
                </a:solidFill>
                <a:latin typeface="Arial"/>
                <a:ea typeface="Arial"/>
                <a:cs typeface="Arial"/>
              </a:rPr>
              <a:t>销售运营部内部访谈摘要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9C1C9-6554-4CFA-B6DE-A9CF1800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版本 1.0    2026 年 8 月</a:t>
            </a:r>
          </a:p>
        </p:txBody>
      </p:sp>
    </p:spTree>
    <p:extLst>
      <p:ext uri="{BB962C8B-B14F-4D97-AF65-F5344CB8AC3E}">
        <p14:creationId xmlns:p14="http://schemas.microsoft.com/office/powerpoint/2010/main" val="15959763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3DA97-D714-441D-A54B-C5E520DD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A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A45"/>
                </a:solidFill>
                <a:latin typeface="Arial"/>
                <a:ea typeface="Arial"/>
                <a:cs typeface="Arial"/>
              </a:rPr>
              <a:t>业务现状与主要问题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F622F-05D8-457E-9C59-4720CB08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渠道规模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8E32A-3A4B-4BAA-ACDD-59EA4544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A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A45"/>
                </a:solidFill>
                <a:latin typeface="Arial"/>
                <a:ea typeface="Arial"/>
                <a:cs typeface="Arial"/>
              </a:rPr>
              <a:t>目前约 180 家签约经销商，覆盖 6 个销售大区。总部使用 Excel 汇总月度进销存，经销商通过邮件或群消息提交数据。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63368-30FF-4299-9C54-61371DFE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52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E7C98-A7AD-476A-B21B-FBC865B7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A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A45"/>
                </a:solidFill>
                <a:latin typeface="Arial"/>
                <a:ea typeface="Arial"/>
                <a:cs typeface="Arial"/>
              </a:rPr>
              <a:t>同一客户可能被多家经销商重复报备。价格政策通过文件传递，版本难追踪。返利计算依赖人工核对，月底集中处理。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CDA7D-2A2D-4D9C-A93B-7307B1E2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978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7800"/>
                </a:solidFill>
                <a:latin typeface="Arial"/>
                <a:ea typeface="Arial"/>
                <a:cs typeface="Arial"/>
              </a:rPr>
              <a:t>当前经销商分级采用 A、B、C 三级，但各区域对升级和降级条件理解不一致。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F87A2-8354-4FBD-9061-37FEFD4B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经销商管理现状调研  2</a:t>
            </a:r>
          </a:p>
        </p:txBody>
      </p:sp>
    </p:spTree>
    <p:extLst>
      <p:ext uri="{BB962C8B-B14F-4D97-AF65-F5344CB8AC3E}">
        <p14:creationId xmlns:p14="http://schemas.microsoft.com/office/powerpoint/2010/main" val="4186624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7B0C4-E56A-4F4A-A7BD-45E88332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A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A45"/>
                </a:solidFill>
                <a:latin typeface="Arial"/>
                <a:ea typeface="Arial"/>
                <a:cs typeface="Arial"/>
              </a:rPr>
              <a:t>月度订单渠道构成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62000" y="1428750"/>
          <a:ext xmlns:a="http://schemas.openxmlformats.org/drawingml/2006/main" cx="685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5d5073ffc14a0e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A3885-2F13-4BB7-A2B3-C8116F3E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66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样本月份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FDAD6-2B44-4E78-B2D7-E0A60BB7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A4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A45"/>
                </a:solidFill>
                <a:latin typeface="Arial"/>
                <a:ea typeface="Arial"/>
                <a:cs typeface="Arial"/>
              </a:rPr>
              <a:t>2026 年 7 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EB4AC-5466-4742-8A63-5510CA08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527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图表仅反映订单金额渠道构成。经销商数量、返利比例和信用额度应以配套 Excel 为准。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2D62F-3EAB-4CDB-B468-63B3BEB0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经销商管理现状调研  3</a:t>
            </a:r>
          </a:p>
        </p:txBody>
      </p:sp>
    </p:spTree>
    <p:extLst>
      <p:ext uri="{BB962C8B-B14F-4D97-AF65-F5344CB8AC3E}">
        <p14:creationId xmlns:p14="http://schemas.microsoft.com/office/powerpoint/2010/main" val="3401832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9867C-4055-40BB-926B-EA5C486A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A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A45"/>
                </a:solidFill>
                <a:latin typeface="Arial"/>
                <a:ea typeface="Arial"/>
                <a:cs typeface="Arial"/>
              </a:rPr>
              <a:t>首期改进方向与范围边界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5571F-85A0-4EE7-9FDA-87070CEE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首期改进方向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B11B9-E8A9-4B74-989C-5B4C9588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572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A45"/>
                </a:solidFill>
                <a:latin typeface="Arial"/>
                <a:ea typeface="Arial"/>
                <a:cs typeface="Arial"/>
              </a:rPr>
              <a:t>统一经销商档案和分级口径</a:t>
            </a:r>
          </a:p>
          <a:p xmlns:a="http://schemas.openxmlformats.org/drawingml/2006/main">
            <a:pPr>
              <a:defRPr sz="1800" b="0">
                <a:solidFill>
                  <a:srgbClr val="142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A45"/>
                </a:solidFill>
                <a:latin typeface="Arial"/>
                <a:ea typeface="Arial"/>
                <a:cs typeface="Arial"/>
              </a:rPr>
              <a:t>客户报备与冲突处理</a:t>
            </a:r>
          </a:p>
          <a:p xmlns:a="http://schemas.openxmlformats.org/drawingml/2006/main">
            <a:pPr>
              <a:defRPr sz="1800" b="0">
                <a:solidFill>
                  <a:srgbClr val="142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A45"/>
                </a:solidFill>
                <a:latin typeface="Arial"/>
                <a:ea typeface="Arial"/>
                <a:cs typeface="Arial"/>
              </a:rPr>
              <a:t>价格政策发布和版本留痕</a:t>
            </a:r>
          </a:p>
          <a:p xmlns:a="http://schemas.openxmlformats.org/drawingml/2006/main">
            <a:pPr>
              <a:defRPr sz="1800" b="0">
                <a:solidFill>
                  <a:srgbClr val="142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A45"/>
                </a:solidFill>
                <a:latin typeface="Arial"/>
                <a:ea typeface="Arial"/>
                <a:cs typeface="Arial"/>
              </a:rPr>
              <a:t>月度进销存上报与校验</a:t>
            </a:r>
          </a:p>
          <a:p xmlns:a="http://schemas.openxmlformats.org/drawingml/2006/main">
            <a:pPr>
              <a:defRPr sz="1800" b="0">
                <a:solidFill>
                  <a:srgbClr val="142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A45"/>
                </a:solidFill>
                <a:latin typeface="Arial"/>
                <a:ea typeface="Arial"/>
                <a:cs typeface="Arial"/>
              </a:rPr>
              <a:t>返利试算与审批依据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26C20-E1C1-4971-AD07-E1814E89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暂不纳入首期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9B2B9-8EB3-4C6F-9557-C6FA2CC1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572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A45"/>
                </a:solidFill>
                <a:latin typeface="Arial"/>
                <a:ea typeface="Arial"/>
                <a:cs typeface="Arial"/>
              </a:rPr>
              <a:t>不替代 ERP 订单执行</a:t>
            </a:r>
          </a:p>
          <a:p xmlns:a="http://schemas.openxmlformats.org/drawingml/2006/main">
            <a:pPr>
              <a:defRPr sz="1800" b="0">
                <a:solidFill>
                  <a:srgbClr val="142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A45"/>
                </a:solidFill>
                <a:latin typeface="Arial"/>
                <a:ea typeface="Arial"/>
                <a:cs typeface="Arial"/>
              </a:rPr>
              <a:t>不处理实际付款和开票</a:t>
            </a:r>
          </a:p>
          <a:p xmlns:a="http://schemas.openxmlformats.org/drawingml/2006/main">
            <a:pPr>
              <a:defRPr sz="1800" b="0">
                <a:solidFill>
                  <a:srgbClr val="142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A45"/>
                </a:solidFill>
                <a:latin typeface="Arial"/>
                <a:ea typeface="Arial"/>
                <a:cs typeface="Arial"/>
              </a:rPr>
              <a:t>不建设消费者电商商城</a:t>
            </a:r>
          </a:p>
          <a:p xmlns:a="http://schemas.openxmlformats.org/drawingml/2006/main">
            <a:pPr>
              <a:defRPr sz="1800" b="0">
                <a:solidFill>
                  <a:srgbClr val="142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A45"/>
                </a:solidFill>
                <a:latin typeface="Arial"/>
                <a:ea typeface="Arial"/>
                <a:cs typeface="Arial"/>
              </a:rPr>
              <a:t>不自动批准经销商信用额度</a:t>
            </a:r>
          </a:p>
          <a:p xmlns:a="http://schemas.openxmlformats.org/drawingml/2006/main">
            <a:pPr>
              <a:defRPr sz="1800" b="0">
                <a:solidFill>
                  <a:srgbClr val="142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A45"/>
                </a:solidFill>
                <a:latin typeface="Arial"/>
                <a:ea typeface="Arial"/>
                <a:cs typeface="Arial"/>
              </a:rPr>
              <a:t>不承诺自动发放返利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D3783-A2F6-4E99-8CC9-B913EA9E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78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7800"/>
                </a:solidFill>
                <a:latin typeface="Arial"/>
                <a:ea typeface="Arial"/>
                <a:cs typeface="Arial"/>
              </a:rPr>
              <a:t>具体等级门槛、返利比例、信用额度和客户保护期以配套 Excel 为确定性来源。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67356-0A88-4F8E-B508-670752ED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经销商管理现状调研  4</a:t>
            </a:r>
          </a:p>
        </p:txBody>
      </p:sp>
    </p:spTree>
    <p:extLst>
      <p:ext uri="{BB962C8B-B14F-4D97-AF65-F5344CB8AC3E}">
        <p14:creationId xmlns:p14="http://schemas.microsoft.com/office/powerpoint/2010/main" val="12783002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2026-09-04T03:18:03.0270000Z</dcterms:created>
  <dcterms:modified xsi:type="dcterms:W3CDTF">2026-09-04T03:18:03.0270000Z</dcterms:modified>
</coreProperties>
</file>